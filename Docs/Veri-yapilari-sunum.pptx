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Abril Fatface" panose="02000503000000020003" pitchFamily="2" charset="77"/>
      <p:regular r:id="rId20"/>
    </p:embeddedFont>
    <p:embeddedFont>
      <p:font typeface="Anton" pitchFamily="2" charset="77"/>
      <p:regular r:id="rId21"/>
    </p:embeddedFont>
    <p:embeddedFont>
      <p:font typeface="DejaVu Serif Bold" panose="02060803050605020204" pitchFamily="18" charset="0"/>
      <p:regular r:id="rId22"/>
      <p:bold r:id="rId23"/>
    </p:embeddedFont>
    <p:embeddedFont>
      <p:font typeface="Poppins" pitchFamily="2" charset="77"/>
      <p:regular r:id="rId24"/>
      <p:bold r:id="rId25"/>
      <p:italic r:id="rId26"/>
      <p:boldItalic r:id="rId27"/>
    </p:embeddedFont>
    <p:embeddedFont>
      <p:font typeface="Poppins Bold" pitchFamily="2" charset="77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93" autoAdjust="0"/>
  </p:normalViewPr>
  <p:slideViewPr>
    <p:cSldViewPr>
      <p:cViewPr varScale="1">
        <p:scale>
          <a:sx n="78" d="100"/>
          <a:sy n="78" d="100"/>
        </p:scale>
        <p:origin x="552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3316" b="-8331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4119210" y="239230"/>
            <a:ext cx="9808531" cy="9808531"/>
          </a:xfrm>
          <a:custGeom>
            <a:avLst/>
            <a:gdLst/>
            <a:ahLst/>
            <a:cxnLst/>
            <a:rect l="l" t="t" r="r" b="b"/>
            <a:pathLst>
              <a:path w="9808531" h="9808531">
                <a:moveTo>
                  <a:pt x="0" y="0"/>
                </a:moveTo>
                <a:lnTo>
                  <a:pt x="9808531" y="0"/>
                </a:lnTo>
                <a:lnTo>
                  <a:pt x="9808531" y="9808531"/>
                </a:lnTo>
                <a:lnTo>
                  <a:pt x="0" y="98085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092195" y="2572750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0" y="0"/>
                </a:moveTo>
                <a:lnTo>
                  <a:pt x="11356715" y="0"/>
                </a:lnTo>
                <a:lnTo>
                  <a:pt x="11356715" y="5141500"/>
                </a:lnTo>
                <a:lnTo>
                  <a:pt x="0" y="514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9023480" y="2572750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11356715" y="0"/>
                </a:moveTo>
                <a:lnTo>
                  <a:pt x="0" y="0"/>
                </a:lnTo>
                <a:lnTo>
                  <a:pt x="0" y="5141500"/>
                </a:lnTo>
                <a:lnTo>
                  <a:pt x="11356715" y="5141500"/>
                </a:lnTo>
                <a:lnTo>
                  <a:pt x="11356715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63852" y="3914068"/>
            <a:ext cx="14319256" cy="161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2"/>
              </a:lnSpc>
            </a:pPr>
            <a:r>
              <a:rPr lang="en-US" sz="939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VERİ YAPILARI VE ALGORİTMALAR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23745" y="7242505"/>
            <a:ext cx="7440511" cy="1200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200" spc="7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VERİ YAPILARI İLE</a:t>
            </a:r>
          </a:p>
          <a:p>
            <a:pPr algn="ctr">
              <a:lnSpc>
                <a:spcPts val="4736"/>
              </a:lnSpc>
            </a:pPr>
            <a:r>
              <a:rPr lang="en-US" sz="3200" spc="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YILAN OYUNU PROJESİ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3316" b="-8331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2959067" y="1635414"/>
            <a:ext cx="9808531" cy="9808531"/>
          </a:xfrm>
          <a:custGeom>
            <a:avLst/>
            <a:gdLst/>
            <a:ahLst/>
            <a:cxnLst/>
            <a:rect l="l" t="t" r="r" b="b"/>
            <a:pathLst>
              <a:path w="9808531" h="9808531">
                <a:moveTo>
                  <a:pt x="0" y="0"/>
                </a:moveTo>
                <a:lnTo>
                  <a:pt x="9808531" y="0"/>
                </a:lnTo>
                <a:lnTo>
                  <a:pt x="9808531" y="9808531"/>
                </a:lnTo>
                <a:lnTo>
                  <a:pt x="0" y="98085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502913" y="1069629"/>
            <a:ext cx="9353445" cy="6757864"/>
            <a:chOff x="0" y="0"/>
            <a:chExt cx="12471260" cy="90104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471273" cy="9010523"/>
            </a:xfrm>
            <a:custGeom>
              <a:avLst/>
              <a:gdLst/>
              <a:ahLst/>
              <a:cxnLst/>
              <a:rect l="l" t="t" r="r" b="b"/>
              <a:pathLst>
                <a:path w="12471273" h="9010523">
                  <a:moveTo>
                    <a:pt x="0" y="0"/>
                  </a:moveTo>
                  <a:lnTo>
                    <a:pt x="12471273" y="0"/>
                  </a:lnTo>
                  <a:lnTo>
                    <a:pt x="12471273" y="9010523"/>
                  </a:lnTo>
                  <a:lnTo>
                    <a:pt x="0" y="9010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9" r="-39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2354400">
            <a:off x="7762894" y="6716754"/>
            <a:ext cx="5491801" cy="6646031"/>
            <a:chOff x="0" y="0"/>
            <a:chExt cx="7322401" cy="886137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322439" cy="8861425"/>
            </a:xfrm>
            <a:custGeom>
              <a:avLst/>
              <a:gdLst/>
              <a:ahLst/>
              <a:cxnLst/>
              <a:rect l="l" t="t" r="r" b="b"/>
              <a:pathLst>
                <a:path w="7322439" h="8861425">
                  <a:moveTo>
                    <a:pt x="0" y="0"/>
                  </a:moveTo>
                  <a:lnTo>
                    <a:pt x="7322439" y="0"/>
                  </a:lnTo>
                  <a:lnTo>
                    <a:pt x="7322439" y="8861425"/>
                  </a:lnTo>
                  <a:lnTo>
                    <a:pt x="0" y="8861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" r="-5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-4680766" y="-4665031"/>
            <a:ext cx="9808531" cy="9808531"/>
          </a:xfrm>
          <a:custGeom>
            <a:avLst/>
            <a:gdLst/>
            <a:ahLst/>
            <a:cxnLst/>
            <a:rect l="l" t="t" r="r" b="b"/>
            <a:pathLst>
              <a:path w="9808531" h="9808531">
                <a:moveTo>
                  <a:pt x="0" y="0"/>
                </a:moveTo>
                <a:lnTo>
                  <a:pt x="9808531" y="0"/>
                </a:lnTo>
                <a:lnTo>
                  <a:pt x="9808531" y="9808531"/>
                </a:lnTo>
                <a:lnTo>
                  <a:pt x="0" y="98085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503094" y="1768764"/>
            <a:ext cx="6695808" cy="1347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SUNUM İÇERİĞİ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03094" y="4120658"/>
            <a:ext cx="7602626" cy="2286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1219" lvl="2" indent="-197073" algn="l">
              <a:lnSpc>
                <a:spcPts val="3621"/>
              </a:lnSpc>
              <a:buAutoNum type="arabicPeriod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 Detayları</a:t>
            </a:r>
          </a:p>
          <a:p>
            <a:pPr marL="591219" lvl="2" indent="-197073" algn="l">
              <a:lnSpc>
                <a:spcPts val="3621"/>
              </a:lnSpc>
              <a:buAutoNum type="arabicPeriod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Arayüz Tanıtımı </a:t>
            </a:r>
          </a:p>
          <a:p>
            <a:pPr marL="591219" lvl="2" indent="-197073" algn="l">
              <a:lnSpc>
                <a:spcPts val="3621"/>
              </a:lnSpc>
              <a:buAutoNum type="arabicPeriod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Kullanılan Teknolojiler ve Proje Mimarisi</a:t>
            </a:r>
          </a:p>
          <a:p>
            <a:pPr marL="591160" lvl="2" indent="-197053" algn="l">
              <a:lnSpc>
                <a:spcPts val="3620"/>
              </a:lnSpc>
              <a:buAutoNum type="arabicPeriod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 Case Diyagramı</a:t>
            </a:r>
          </a:p>
          <a:p>
            <a:pPr marL="591219" lvl="2" indent="-197073" algn="l">
              <a:lnSpc>
                <a:spcPts val="3621"/>
              </a:lnSpc>
              <a:buAutoNum type="arabicPeriod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Kullanılan Veri Yapıları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3316" b="-8331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4239730" y="239230"/>
            <a:ext cx="9808531" cy="9808531"/>
          </a:xfrm>
          <a:custGeom>
            <a:avLst/>
            <a:gdLst/>
            <a:ahLst/>
            <a:cxnLst/>
            <a:rect l="l" t="t" r="r" b="b"/>
            <a:pathLst>
              <a:path w="9808531" h="9808531">
                <a:moveTo>
                  <a:pt x="0" y="0"/>
                </a:moveTo>
                <a:lnTo>
                  <a:pt x="9808531" y="0"/>
                </a:lnTo>
                <a:lnTo>
                  <a:pt x="9808531" y="9808531"/>
                </a:lnTo>
                <a:lnTo>
                  <a:pt x="0" y="98085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1338180">
            <a:off x="829237" y="4098598"/>
            <a:ext cx="21316169" cy="7274223"/>
            <a:chOff x="0" y="0"/>
            <a:chExt cx="28421559" cy="96989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21583" cy="9698990"/>
            </a:xfrm>
            <a:custGeom>
              <a:avLst/>
              <a:gdLst/>
              <a:ahLst/>
              <a:cxnLst/>
              <a:rect l="l" t="t" r="r" b="b"/>
              <a:pathLst>
                <a:path w="28421583" h="9698990">
                  <a:moveTo>
                    <a:pt x="0" y="0"/>
                  </a:moveTo>
                  <a:lnTo>
                    <a:pt x="28421583" y="0"/>
                  </a:lnTo>
                  <a:lnTo>
                    <a:pt x="28421583" y="9698990"/>
                  </a:lnTo>
                  <a:lnTo>
                    <a:pt x="0" y="969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1133700">
            <a:off x="-843258" y="-2746086"/>
            <a:ext cx="8225495" cy="8229600"/>
            <a:chOff x="0" y="0"/>
            <a:chExt cx="10967326" cy="1097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67339" cy="10972800"/>
            </a:xfrm>
            <a:custGeom>
              <a:avLst/>
              <a:gdLst/>
              <a:ahLst/>
              <a:cxnLst/>
              <a:rect l="l" t="t" r="r" b="b"/>
              <a:pathLst>
                <a:path w="10967339" h="10972800">
                  <a:moveTo>
                    <a:pt x="0" y="0"/>
                  </a:moveTo>
                  <a:lnTo>
                    <a:pt x="10967339" y="0"/>
                  </a:lnTo>
                  <a:lnTo>
                    <a:pt x="10967339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" r="-24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5947239" y="1841725"/>
            <a:ext cx="10166118" cy="1343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25260" lvl="2" indent="-741753" algn="ctr">
              <a:lnSpc>
                <a:spcPts val="11000"/>
              </a:lnSpc>
              <a:buAutoNum type="arabicPeriod"/>
            </a:pPr>
            <a:r>
              <a:rPr lang="en-US" sz="973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PROJE DETAYLARI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73819"/>
            <a:ext cx="14034706" cy="4572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0"/>
              </a:lnSpc>
            </a:pPr>
            <a:r>
              <a:rPr lang="en-US" sz="258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Projenin Amacı:</a:t>
            </a: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Klasik yılan oyununu veri yapılarıyla yeniden inşa ederek her yapının</a:t>
            </a:r>
          </a:p>
          <a:p>
            <a:pPr algn="l">
              <a:lnSpc>
                <a:spcPts val="3620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gerçek bir oyun bileşeninde nasıl kullanıldığını göstermek.</a:t>
            </a:r>
          </a:p>
          <a:p>
            <a:pPr algn="l">
              <a:lnSpc>
                <a:spcPts val="3620"/>
              </a:lnSpc>
            </a:pPr>
            <a:endParaRPr lang="en-US" sz="258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20"/>
              </a:lnSpc>
            </a:pPr>
            <a:r>
              <a:rPr lang="en-US" sz="258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Projenin Kapsamı: </a:t>
            </a: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java.util kütüphanesi kullanılmadan 7 farklı veri yapısını sıfırdan implement etmek ve bu yapıları oyunun canlı çalışan bir bileşenine bağlamak.</a:t>
            </a:r>
          </a:p>
          <a:p>
            <a:pPr algn="l">
              <a:lnSpc>
                <a:spcPts val="3620"/>
              </a:lnSpc>
            </a:pPr>
            <a:endParaRPr lang="en-US" sz="258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20"/>
              </a:lnSpc>
            </a:pPr>
            <a:r>
              <a:rPr lang="en-US" sz="258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Teknik Hedef: </a:t>
            </a: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Her veri yapısının teorik karmaşıklığını (Big-O) oyun içi performansla doğrulamak; örneğin yılan hareketi O(1), skor sıralaması O(log n).</a:t>
            </a:r>
          </a:p>
          <a:p>
            <a:pPr algn="l">
              <a:lnSpc>
                <a:spcPts val="3620"/>
              </a:lnSpc>
            </a:pPr>
            <a:endParaRPr lang="en-US" sz="258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21"/>
              </a:lnSpc>
            </a:pPr>
            <a:endParaRPr lang="en-US" sz="258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3316" b="-8331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4239730" y="239230"/>
            <a:ext cx="9808531" cy="9808531"/>
          </a:xfrm>
          <a:custGeom>
            <a:avLst/>
            <a:gdLst/>
            <a:ahLst/>
            <a:cxnLst/>
            <a:rect l="l" t="t" r="r" b="b"/>
            <a:pathLst>
              <a:path w="9808531" h="9808531">
                <a:moveTo>
                  <a:pt x="0" y="0"/>
                </a:moveTo>
                <a:lnTo>
                  <a:pt x="9808531" y="0"/>
                </a:lnTo>
                <a:lnTo>
                  <a:pt x="9808531" y="9808531"/>
                </a:lnTo>
                <a:lnTo>
                  <a:pt x="0" y="98085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3325587" y="4520374"/>
            <a:ext cx="8708574" cy="8229600"/>
            <a:chOff x="0" y="0"/>
            <a:chExt cx="11611432" cy="1097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611483" cy="10972800"/>
            </a:xfrm>
            <a:custGeom>
              <a:avLst/>
              <a:gdLst/>
              <a:ahLst/>
              <a:cxnLst/>
              <a:rect l="l" t="t" r="r" b="b"/>
              <a:pathLst>
                <a:path w="11611483" h="10972800">
                  <a:moveTo>
                    <a:pt x="0" y="0"/>
                  </a:moveTo>
                  <a:lnTo>
                    <a:pt x="11611483" y="0"/>
                  </a:lnTo>
                  <a:lnTo>
                    <a:pt x="11611483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9" r="-28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2064041" y="-1258052"/>
            <a:ext cx="9353445" cy="6757864"/>
            <a:chOff x="0" y="0"/>
            <a:chExt cx="12471260" cy="90104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471273" cy="9010523"/>
            </a:xfrm>
            <a:custGeom>
              <a:avLst/>
              <a:gdLst/>
              <a:ahLst/>
              <a:cxnLst/>
              <a:rect l="l" t="t" r="r" b="b"/>
              <a:pathLst>
                <a:path w="12471273" h="9010523">
                  <a:moveTo>
                    <a:pt x="0" y="0"/>
                  </a:moveTo>
                  <a:lnTo>
                    <a:pt x="12471273" y="0"/>
                  </a:lnTo>
                  <a:lnTo>
                    <a:pt x="12471273" y="9010523"/>
                  </a:lnTo>
                  <a:lnTo>
                    <a:pt x="0" y="9010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9" r="-39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028700" y="1937185"/>
            <a:ext cx="7340071" cy="8110576"/>
          </a:xfrm>
          <a:custGeom>
            <a:avLst/>
            <a:gdLst/>
            <a:ahLst/>
            <a:cxnLst/>
            <a:rect l="l" t="t" r="r" b="b"/>
            <a:pathLst>
              <a:path w="7340071" h="8110576">
                <a:moveTo>
                  <a:pt x="0" y="0"/>
                </a:moveTo>
                <a:lnTo>
                  <a:pt x="7340071" y="0"/>
                </a:lnTo>
                <a:lnTo>
                  <a:pt x="7340071" y="8110576"/>
                </a:lnTo>
                <a:lnTo>
                  <a:pt x="0" y="81105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123891" y="1231925"/>
            <a:ext cx="7784467" cy="8665833"/>
          </a:xfrm>
          <a:custGeom>
            <a:avLst/>
            <a:gdLst/>
            <a:ahLst/>
            <a:cxnLst/>
            <a:rect l="l" t="t" r="r" b="b"/>
            <a:pathLst>
              <a:path w="7784467" h="8665833">
                <a:moveTo>
                  <a:pt x="0" y="0"/>
                </a:moveTo>
                <a:lnTo>
                  <a:pt x="7784467" y="0"/>
                </a:lnTo>
                <a:lnTo>
                  <a:pt x="7784467" y="8665833"/>
                </a:lnTo>
                <a:lnTo>
                  <a:pt x="0" y="86658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849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3721" y="593341"/>
            <a:ext cx="8574435" cy="141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2.ARAYÜZ TANITIMI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43277" y="8530399"/>
            <a:ext cx="4942732" cy="90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8"/>
              </a:lnSpc>
            </a:pPr>
            <a:r>
              <a:rPr lang="en-US" sz="5198" b="1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Giriş Paneli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02207" y="2396341"/>
            <a:ext cx="5892108" cy="90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8"/>
              </a:lnSpc>
            </a:pPr>
            <a:r>
              <a:rPr lang="en-US" sz="5198" b="1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Oyun Paneli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3316" b="-8331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928183" y="3031217"/>
            <a:ext cx="6047261" cy="6047261"/>
          </a:xfrm>
          <a:custGeom>
            <a:avLst/>
            <a:gdLst/>
            <a:ahLst/>
            <a:cxnLst/>
            <a:rect l="l" t="t" r="r" b="b"/>
            <a:pathLst>
              <a:path w="6047261" h="6047261">
                <a:moveTo>
                  <a:pt x="0" y="0"/>
                </a:moveTo>
                <a:lnTo>
                  <a:pt x="6047260" y="0"/>
                </a:lnTo>
                <a:lnTo>
                  <a:pt x="6047260" y="6047261"/>
                </a:lnTo>
                <a:lnTo>
                  <a:pt x="0" y="60472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312566" y="3031217"/>
            <a:ext cx="6047261" cy="6047261"/>
          </a:xfrm>
          <a:custGeom>
            <a:avLst/>
            <a:gdLst/>
            <a:ahLst/>
            <a:cxnLst/>
            <a:rect l="l" t="t" r="r" b="b"/>
            <a:pathLst>
              <a:path w="6047261" h="6047261">
                <a:moveTo>
                  <a:pt x="0" y="0"/>
                </a:moveTo>
                <a:lnTo>
                  <a:pt x="6047261" y="0"/>
                </a:lnTo>
                <a:lnTo>
                  <a:pt x="6047261" y="6047261"/>
                </a:lnTo>
                <a:lnTo>
                  <a:pt x="0" y="60472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68279" y="3031217"/>
            <a:ext cx="6047261" cy="6047261"/>
          </a:xfrm>
          <a:custGeom>
            <a:avLst/>
            <a:gdLst/>
            <a:ahLst/>
            <a:cxnLst/>
            <a:rect l="l" t="t" r="r" b="b"/>
            <a:pathLst>
              <a:path w="6047261" h="6047261">
                <a:moveTo>
                  <a:pt x="0" y="0"/>
                </a:moveTo>
                <a:lnTo>
                  <a:pt x="6047261" y="0"/>
                </a:lnTo>
                <a:lnTo>
                  <a:pt x="6047261" y="6047261"/>
                </a:lnTo>
                <a:lnTo>
                  <a:pt x="0" y="60472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1133700">
            <a:off x="8533600" y="6253629"/>
            <a:ext cx="8225495" cy="8229600"/>
            <a:chOff x="0" y="0"/>
            <a:chExt cx="10967326" cy="1097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67339" cy="10972800"/>
            </a:xfrm>
            <a:custGeom>
              <a:avLst/>
              <a:gdLst/>
              <a:ahLst/>
              <a:cxnLst/>
              <a:rect l="l" t="t" r="r" b="b"/>
              <a:pathLst>
                <a:path w="10967339" h="10972800">
                  <a:moveTo>
                    <a:pt x="0" y="0"/>
                  </a:moveTo>
                  <a:lnTo>
                    <a:pt x="10967339" y="0"/>
                  </a:lnTo>
                  <a:lnTo>
                    <a:pt x="10967339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" r="-2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1133700">
            <a:off x="1334691" y="-5035848"/>
            <a:ext cx="8225495" cy="8229600"/>
            <a:chOff x="0" y="0"/>
            <a:chExt cx="10967326" cy="1097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67339" cy="10972800"/>
            </a:xfrm>
            <a:custGeom>
              <a:avLst/>
              <a:gdLst/>
              <a:ahLst/>
              <a:cxnLst/>
              <a:rect l="l" t="t" r="r" b="b"/>
              <a:pathLst>
                <a:path w="10967339" h="10972800">
                  <a:moveTo>
                    <a:pt x="0" y="0"/>
                  </a:moveTo>
                  <a:lnTo>
                    <a:pt x="10967339" y="0"/>
                  </a:lnTo>
                  <a:lnTo>
                    <a:pt x="10967339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" r="-24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622042" y="1376996"/>
            <a:ext cx="5753047" cy="6356958"/>
          </a:xfrm>
          <a:custGeom>
            <a:avLst/>
            <a:gdLst/>
            <a:ahLst/>
            <a:cxnLst/>
            <a:rect l="l" t="t" r="r" b="b"/>
            <a:pathLst>
              <a:path w="5753047" h="6356958">
                <a:moveTo>
                  <a:pt x="0" y="0"/>
                </a:moveTo>
                <a:lnTo>
                  <a:pt x="5753047" y="0"/>
                </a:lnTo>
                <a:lnTo>
                  <a:pt x="575304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32037" y="1946169"/>
            <a:ext cx="5731391" cy="7312131"/>
          </a:xfrm>
          <a:custGeom>
            <a:avLst/>
            <a:gdLst/>
            <a:ahLst/>
            <a:cxnLst/>
            <a:rect l="l" t="t" r="r" b="b"/>
            <a:pathLst>
              <a:path w="5731391" h="7312131">
                <a:moveTo>
                  <a:pt x="0" y="0"/>
                </a:moveTo>
                <a:lnTo>
                  <a:pt x="5731391" y="0"/>
                </a:lnTo>
                <a:lnTo>
                  <a:pt x="5731391" y="7312131"/>
                </a:lnTo>
                <a:lnTo>
                  <a:pt x="0" y="73121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7818" r="-29917" b="-36615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91179" y="7717538"/>
            <a:ext cx="5814774" cy="1839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8"/>
              </a:lnSpc>
            </a:pPr>
            <a:r>
              <a:rPr lang="en-US" sz="5198" b="1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Oyun Sonu Paneli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32037" y="819150"/>
            <a:ext cx="5814774" cy="90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8"/>
              </a:lnSpc>
            </a:pPr>
            <a:r>
              <a:rPr lang="en-US" sz="5198" b="1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Ayarlar Paneli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3316" b="-8331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82861" y="239230"/>
            <a:ext cx="9808531" cy="9808531"/>
          </a:xfrm>
          <a:custGeom>
            <a:avLst/>
            <a:gdLst/>
            <a:ahLst/>
            <a:cxnLst/>
            <a:rect l="l" t="t" r="r" b="b"/>
            <a:pathLst>
              <a:path w="9808531" h="9808531">
                <a:moveTo>
                  <a:pt x="0" y="0"/>
                </a:moveTo>
                <a:lnTo>
                  <a:pt x="9808531" y="0"/>
                </a:lnTo>
                <a:lnTo>
                  <a:pt x="9808531" y="9808531"/>
                </a:lnTo>
                <a:lnTo>
                  <a:pt x="0" y="98085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939889" y="5010150"/>
            <a:ext cx="8319411" cy="233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1953" lvl="2" indent="-197318" algn="l">
              <a:lnSpc>
                <a:spcPts val="3625"/>
              </a:lnSpc>
              <a:buFont typeface="Arial"/>
              <a:buChar char="⚬"/>
            </a:pPr>
            <a:r>
              <a:rPr lang="en-US" sz="258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Programlama Dili:        </a:t>
            </a:r>
            <a:r>
              <a:rPr lang="en-US" sz="25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Java 17</a:t>
            </a:r>
          </a:p>
          <a:p>
            <a:pPr marL="591953" lvl="2" indent="-197318" algn="l">
              <a:lnSpc>
                <a:spcPts val="3625"/>
              </a:lnSpc>
              <a:buFont typeface="Arial"/>
              <a:buChar char="⚬"/>
            </a:pPr>
            <a:r>
              <a:rPr lang="en-US" sz="258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Arayüz Teknolojisi:</a:t>
            </a:r>
            <a:r>
              <a:rPr lang="en-US" sz="25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Java Swing</a:t>
            </a:r>
          </a:p>
          <a:p>
            <a:pPr marL="591845" lvl="2" indent="-197282" algn="l">
              <a:lnSpc>
                <a:spcPts val="3624"/>
              </a:lnSpc>
              <a:buFont typeface="Arial"/>
              <a:buChar char="⚬"/>
            </a:pPr>
            <a:r>
              <a:rPr lang="en-US" sz="258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 Mimarisi:</a:t>
            </a:r>
            <a:r>
              <a:rPr lang="en-US" sz="258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Katmanlı Mimari</a:t>
            </a:r>
          </a:p>
          <a:p>
            <a:pPr marL="591953" lvl="2" indent="-197318" algn="l">
              <a:lnSpc>
                <a:spcPts val="3625"/>
              </a:lnSpc>
              <a:buFont typeface="Arial"/>
              <a:buChar char="⚬"/>
            </a:pPr>
            <a:r>
              <a:rPr lang="en-US" sz="258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Sürüm Kontrolü: </a:t>
            </a:r>
            <a:r>
              <a:rPr lang="en-US" sz="25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Git / GitHub</a:t>
            </a:r>
          </a:p>
          <a:p>
            <a:pPr marL="591953" lvl="2" indent="-197318" algn="l">
              <a:lnSpc>
                <a:spcPts val="3625"/>
              </a:lnSpc>
              <a:buFont typeface="Arial"/>
              <a:buChar char="⚬"/>
            </a:pPr>
            <a:r>
              <a:rPr lang="en-US" sz="258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Geliştirme Ortamı:</a:t>
            </a:r>
            <a:r>
              <a:rPr lang="en-US" sz="25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IntelliJ IDEA - VS Code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45169" y="507714"/>
            <a:ext cx="15692446" cy="2801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3. KULLANILAN TEKNOLOJILER VE PROJE MIMARISI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24336" y="1874920"/>
            <a:ext cx="6079560" cy="6537169"/>
            <a:chOff x="0" y="0"/>
            <a:chExt cx="8106080" cy="87162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06029" cy="8716264"/>
            </a:xfrm>
            <a:custGeom>
              <a:avLst/>
              <a:gdLst/>
              <a:ahLst/>
              <a:cxnLst/>
              <a:rect l="l" t="t" r="r" b="b"/>
              <a:pathLst>
                <a:path w="8106029" h="8716264">
                  <a:moveTo>
                    <a:pt x="0" y="0"/>
                  </a:moveTo>
                  <a:lnTo>
                    <a:pt x="8106029" y="0"/>
                  </a:lnTo>
                  <a:lnTo>
                    <a:pt x="8106029" y="8716264"/>
                  </a:lnTo>
                  <a:lnTo>
                    <a:pt x="0" y="8716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9" b="-28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3316" b="-8331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4645962" y="645462"/>
            <a:ext cx="8996086" cy="8996086"/>
          </a:xfrm>
          <a:custGeom>
            <a:avLst/>
            <a:gdLst/>
            <a:ahLst/>
            <a:cxnLst/>
            <a:rect l="l" t="t" r="r" b="b"/>
            <a:pathLst>
              <a:path w="8996086" h="8996086">
                <a:moveTo>
                  <a:pt x="0" y="0"/>
                </a:moveTo>
                <a:lnTo>
                  <a:pt x="8996086" y="0"/>
                </a:lnTo>
                <a:lnTo>
                  <a:pt x="8996086" y="8996086"/>
                </a:lnTo>
                <a:lnTo>
                  <a:pt x="0" y="89960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7110960">
            <a:off x="-4233882" y="1468450"/>
            <a:ext cx="9353445" cy="6757864"/>
            <a:chOff x="0" y="0"/>
            <a:chExt cx="12471260" cy="90104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471273" cy="9010523"/>
            </a:xfrm>
            <a:custGeom>
              <a:avLst/>
              <a:gdLst/>
              <a:ahLst/>
              <a:cxnLst/>
              <a:rect l="l" t="t" r="r" b="b"/>
              <a:pathLst>
                <a:path w="12471273" h="9010523">
                  <a:moveTo>
                    <a:pt x="0" y="0"/>
                  </a:moveTo>
                  <a:lnTo>
                    <a:pt x="12471273" y="0"/>
                  </a:lnTo>
                  <a:lnTo>
                    <a:pt x="12471273" y="9010523"/>
                  </a:lnTo>
                  <a:lnTo>
                    <a:pt x="0" y="9010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9" r="-39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9338940">
            <a:off x="15100573" y="1083754"/>
            <a:ext cx="7114508" cy="8609781"/>
            <a:chOff x="0" y="0"/>
            <a:chExt cx="9486011" cy="1147970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86011" cy="11479657"/>
            </a:xfrm>
            <a:custGeom>
              <a:avLst/>
              <a:gdLst/>
              <a:ahLst/>
              <a:cxnLst/>
              <a:rect l="l" t="t" r="r" b="b"/>
              <a:pathLst>
                <a:path w="9486011" h="11479657">
                  <a:moveTo>
                    <a:pt x="0" y="0"/>
                  </a:moveTo>
                  <a:lnTo>
                    <a:pt x="9486011" y="0"/>
                  </a:lnTo>
                  <a:lnTo>
                    <a:pt x="9486011" y="11479657"/>
                  </a:lnTo>
                  <a:lnTo>
                    <a:pt x="0" y="11479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" r="-6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3487918" y="1028700"/>
            <a:ext cx="11312165" cy="8229600"/>
          </a:xfrm>
          <a:custGeom>
            <a:avLst/>
            <a:gdLst/>
            <a:ahLst/>
            <a:cxnLst/>
            <a:rect l="l" t="t" r="r" b="b"/>
            <a:pathLst>
              <a:path w="11312165" h="8229600">
                <a:moveTo>
                  <a:pt x="0" y="0"/>
                </a:moveTo>
                <a:lnTo>
                  <a:pt x="11312164" y="0"/>
                </a:lnTo>
                <a:lnTo>
                  <a:pt x="113121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3316" b="-8331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4766481" y="645462"/>
            <a:ext cx="8996086" cy="8996086"/>
          </a:xfrm>
          <a:custGeom>
            <a:avLst/>
            <a:gdLst/>
            <a:ahLst/>
            <a:cxnLst/>
            <a:rect l="l" t="t" r="r" b="b"/>
            <a:pathLst>
              <a:path w="8996086" h="8996086">
                <a:moveTo>
                  <a:pt x="0" y="0"/>
                </a:moveTo>
                <a:lnTo>
                  <a:pt x="8996087" y="0"/>
                </a:lnTo>
                <a:lnTo>
                  <a:pt x="8996087" y="8996086"/>
                </a:lnTo>
                <a:lnTo>
                  <a:pt x="0" y="89960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092195" y="8344433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0" y="0"/>
                </a:moveTo>
                <a:lnTo>
                  <a:pt x="11356715" y="0"/>
                </a:lnTo>
                <a:lnTo>
                  <a:pt x="11356715" y="5141500"/>
                </a:lnTo>
                <a:lnTo>
                  <a:pt x="0" y="514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9023480" y="8344433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11356715" y="0"/>
                </a:moveTo>
                <a:lnTo>
                  <a:pt x="0" y="0"/>
                </a:lnTo>
                <a:lnTo>
                  <a:pt x="0" y="5141500"/>
                </a:lnTo>
                <a:lnTo>
                  <a:pt x="11356715" y="5141500"/>
                </a:lnTo>
                <a:lnTo>
                  <a:pt x="11356715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212715" y="-2570750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0" y="0"/>
                </a:moveTo>
                <a:lnTo>
                  <a:pt x="11356715" y="0"/>
                </a:lnTo>
                <a:lnTo>
                  <a:pt x="11356715" y="5141500"/>
                </a:lnTo>
                <a:lnTo>
                  <a:pt x="0" y="514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8902960" y="-2570750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11356715" y="0"/>
                </a:moveTo>
                <a:lnTo>
                  <a:pt x="0" y="0"/>
                </a:lnTo>
                <a:lnTo>
                  <a:pt x="0" y="5141500"/>
                </a:lnTo>
                <a:lnTo>
                  <a:pt x="11356715" y="5141500"/>
                </a:lnTo>
                <a:lnTo>
                  <a:pt x="11356715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72700" y="2122573"/>
            <a:ext cx="15742600" cy="8048404"/>
          </a:xfrm>
          <a:custGeom>
            <a:avLst/>
            <a:gdLst/>
            <a:ahLst/>
            <a:cxnLst/>
            <a:rect l="l" t="t" r="r" b="b"/>
            <a:pathLst>
              <a:path w="15742600" h="8048404">
                <a:moveTo>
                  <a:pt x="0" y="0"/>
                </a:moveTo>
                <a:lnTo>
                  <a:pt x="15742600" y="0"/>
                </a:lnTo>
                <a:lnTo>
                  <a:pt x="15742600" y="8048405"/>
                </a:lnTo>
                <a:lnTo>
                  <a:pt x="0" y="80484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-1550285" y="712137"/>
            <a:ext cx="19351495" cy="141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4. USE CASE DİYAGRAMI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3316" b="-8331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4766481" y="645462"/>
            <a:ext cx="8996086" cy="8996086"/>
          </a:xfrm>
          <a:custGeom>
            <a:avLst/>
            <a:gdLst/>
            <a:ahLst/>
            <a:cxnLst/>
            <a:rect l="l" t="t" r="r" b="b"/>
            <a:pathLst>
              <a:path w="8996086" h="8996086">
                <a:moveTo>
                  <a:pt x="0" y="0"/>
                </a:moveTo>
                <a:lnTo>
                  <a:pt x="8996087" y="0"/>
                </a:lnTo>
                <a:lnTo>
                  <a:pt x="8996087" y="8996086"/>
                </a:lnTo>
                <a:lnTo>
                  <a:pt x="0" y="89960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092195" y="8344433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0" y="0"/>
                </a:moveTo>
                <a:lnTo>
                  <a:pt x="11356715" y="0"/>
                </a:lnTo>
                <a:lnTo>
                  <a:pt x="11356715" y="5141500"/>
                </a:lnTo>
                <a:lnTo>
                  <a:pt x="0" y="514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9023480" y="8344433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11356715" y="0"/>
                </a:moveTo>
                <a:lnTo>
                  <a:pt x="0" y="0"/>
                </a:lnTo>
                <a:lnTo>
                  <a:pt x="0" y="5141500"/>
                </a:lnTo>
                <a:lnTo>
                  <a:pt x="11356715" y="5141500"/>
                </a:lnTo>
                <a:lnTo>
                  <a:pt x="11356715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212715" y="-2570750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0" y="0"/>
                </a:moveTo>
                <a:lnTo>
                  <a:pt x="11356715" y="0"/>
                </a:lnTo>
                <a:lnTo>
                  <a:pt x="11356715" y="5141500"/>
                </a:lnTo>
                <a:lnTo>
                  <a:pt x="0" y="514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8902960" y="-2570750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11356715" y="0"/>
                </a:moveTo>
                <a:lnTo>
                  <a:pt x="0" y="0"/>
                </a:lnTo>
                <a:lnTo>
                  <a:pt x="0" y="5141500"/>
                </a:lnTo>
                <a:lnTo>
                  <a:pt x="11356715" y="5141500"/>
                </a:lnTo>
                <a:lnTo>
                  <a:pt x="11356715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-1550285" y="712137"/>
            <a:ext cx="19351495" cy="141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5. KULLANILAN VERİ YAPILARI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775" y="2220707"/>
            <a:ext cx="14346610" cy="7739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68456" lvl="1" indent="-584228" algn="l">
              <a:lnSpc>
                <a:spcPts val="7576"/>
              </a:lnSpc>
              <a:buFont typeface="Arial"/>
              <a:buChar char="•"/>
            </a:pPr>
            <a:r>
              <a:rPr lang="en-US" sz="5412" b="1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Doubly Linked List</a:t>
            </a:r>
          </a:p>
          <a:p>
            <a:pPr marL="1168456" lvl="1" indent="-584228" algn="l">
              <a:lnSpc>
                <a:spcPts val="7576"/>
              </a:lnSpc>
              <a:buFont typeface="Arial"/>
              <a:buChar char="•"/>
            </a:pPr>
            <a:r>
              <a:rPr lang="en-US" sz="5412" b="1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Hash Table (Separate Chaining)</a:t>
            </a:r>
          </a:p>
          <a:p>
            <a:pPr marL="1168456" lvl="1" indent="-584228" algn="l">
              <a:lnSpc>
                <a:spcPts val="7576"/>
              </a:lnSpc>
              <a:buFont typeface="Arial"/>
              <a:buChar char="•"/>
            </a:pPr>
            <a:r>
              <a:rPr lang="en-US" sz="5412" b="1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Hash Set</a:t>
            </a:r>
          </a:p>
          <a:p>
            <a:pPr marL="1168456" lvl="1" indent="-584228" algn="l">
              <a:lnSpc>
                <a:spcPts val="7576"/>
              </a:lnSpc>
              <a:buFont typeface="Arial"/>
              <a:buChar char="•"/>
            </a:pPr>
            <a:r>
              <a:rPr lang="en-US" sz="5412" b="1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Circular Array Deque</a:t>
            </a:r>
          </a:p>
          <a:p>
            <a:pPr marL="1168456" lvl="1" indent="-584228" algn="l">
              <a:lnSpc>
                <a:spcPts val="7576"/>
              </a:lnSpc>
              <a:buFont typeface="Arial"/>
              <a:buChar char="•"/>
            </a:pPr>
            <a:r>
              <a:rPr lang="en-US" sz="5412" b="1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Binary Min-Heap</a:t>
            </a:r>
          </a:p>
          <a:p>
            <a:pPr marL="1168456" lvl="1" indent="-584228" algn="l">
              <a:lnSpc>
                <a:spcPts val="7576"/>
              </a:lnSpc>
              <a:buFont typeface="Arial"/>
              <a:buChar char="•"/>
            </a:pPr>
            <a:r>
              <a:rPr lang="en-US" sz="5412" b="1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Binary Search Tree (BST) Map</a:t>
            </a:r>
          </a:p>
          <a:p>
            <a:pPr marL="1168456" lvl="1" indent="-584228" algn="l">
              <a:lnSpc>
                <a:spcPts val="7576"/>
              </a:lnSpc>
              <a:buFont typeface="Arial"/>
              <a:buChar char="•"/>
            </a:pPr>
            <a:r>
              <a:rPr lang="en-US" sz="5412" b="1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Dynamic Array</a:t>
            </a:r>
          </a:p>
          <a:p>
            <a:pPr algn="ctr">
              <a:lnSpc>
                <a:spcPts val="7577"/>
              </a:lnSpc>
            </a:pPr>
            <a:endParaRPr lang="en-US" sz="5412" b="1">
              <a:solidFill>
                <a:srgbClr val="FFFFFF"/>
              </a:solidFill>
              <a:latin typeface="DejaVu Serif Bold"/>
              <a:ea typeface="DejaVu Serif Bold"/>
              <a:cs typeface="DejaVu Serif Bold"/>
              <a:sym typeface="DejaVu Serif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3316" b="-8331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4766481" y="645462"/>
            <a:ext cx="8996086" cy="8996086"/>
          </a:xfrm>
          <a:custGeom>
            <a:avLst/>
            <a:gdLst/>
            <a:ahLst/>
            <a:cxnLst/>
            <a:rect l="l" t="t" r="r" b="b"/>
            <a:pathLst>
              <a:path w="8996086" h="8996086">
                <a:moveTo>
                  <a:pt x="0" y="0"/>
                </a:moveTo>
                <a:lnTo>
                  <a:pt x="8996087" y="0"/>
                </a:lnTo>
                <a:lnTo>
                  <a:pt x="8996087" y="8996086"/>
                </a:lnTo>
                <a:lnTo>
                  <a:pt x="0" y="89960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092195" y="8344433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0" y="0"/>
                </a:moveTo>
                <a:lnTo>
                  <a:pt x="11356715" y="0"/>
                </a:lnTo>
                <a:lnTo>
                  <a:pt x="11356715" y="5141500"/>
                </a:lnTo>
                <a:lnTo>
                  <a:pt x="0" y="514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9023480" y="8344433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11356715" y="0"/>
                </a:moveTo>
                <a:lnTo>
                  <a:pt x="0" y="0"/>
                </a:lnTo>
                <a:lnTo>
                  <a:pt x="0" y="5141500"/>
                </a:lnTo>
                <a:lnTo>
                  <a:pt x="11356715" y="5141500"/>
                </a:lnTo>
                <a:lnTo>
                  <a:pt x="11356715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212715" y="-2570750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0" y="0"/>
                </a:moveTo>
                <a:lnTo>
                  <a:pt x="11356715" y="0"/>
                </a:lnTo>
                <a:lnTo>
                  <a:pt x="11356715" y="5141500"/>
                </a:lnTo>
                <a:lnTo>
                  <a:pt x="0" y="514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8902960" y="-2570750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11356715" y="0"/>
                </a:moveTo>
                <a:lnTo>
                  <a:pt x="0" y="0"/>
                </a:lnTo>
                <a:lnTo>
                  <a:pt x="0" y="5141500"/>
                </a:lnTo>
                <a:lnTo>
                  <a:pt x="11356715" y="5141500"/>
                </a:lnTo>
                <a:lnTo>
                  <a:pt x="11356715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565088" y="2778470"/>
            <a:ext cx="11455633" cy="5196215"/>
          </a:xfrm>
          <a:custGeom>
            <a:avLst/>
            <a:gdLst/>
            <a:ahLst/>
            <a:cxnLst/>
            <a:rect l="l" t="t" r="r" b="b"/>
            <a:pathLst>
              <a:path w="11455633" h="5196215">
                <a:moveTo>
                  <a:pt x="0" y="0"/>
                </a:moveTo>
                <a:lnTo>
                  <a:pt x="11455634" y="0"/>
                </a:lnTo>
                <a:lnTo>
                  <a:pt x="11455634" y="5196215"/>
                </a:lnTo>
                <a:lnTo>
                  <a:pt x="0" y="51962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02929" y="4884326"/>
            <a:ext cx="5501324" cy="3094495"/>
          </a:xfrm>
          <a:custGeom>
            <a:avLst/>
            <a:gdLst/>
            <a:ahLst/>
            <a:cxnLst/>
            <a:rect l="l" t="t" r="r" b="b"/>
            <a:pathLst>
              <a:path w="5501324" h="3094495">
                <a:moveTo>
                  <a:pt x="0" y="0"/>
                </a:moveTo>
                <a:lnTo>
                  <a:pt x="5501324" y="0"/>
                </a:lnTo>
                <a:lnTo>
                  <a:pt x="5501324" y="3094494"/>
                </a:lnTo>
                <a:lnTo>
                  <a:pt x="0" y="30944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-6705600" y="1679950"/>
            <a:ext cx="19351495" cy="2791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sz="9734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5.1 DOUBLY</a:t>
            </a:r>
          </a:p>
          <a:p>
            <a:pPr algn="ctr">
              <a:lnSpc>
                <a:spcPts val="11000"/>
              </a:lnSpc>
            </a:pPr>
            <a:r>
              <a:rPr lang="en-US" sz="9734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LINKED LIST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3316" b="-8331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4766481" y="645462"/>
            <a:ext cx="8996086" cy="8996086"/>
          </a:xfrm>
          <a:custGeom>
            <a:avLst/>
            <a:gdLst/>
            <a:ahLst/>
            <a:cxnLst/>
            <a:rect l="l" t="t" r="r" b="b"/>
            <a:pathLst>
              <a:path w="8996086" h="8996086">
                <a:moveTo>
                  <a:pt x="0" y="0"/>
                </a:moveTo>
                <a:lnTo>
                  <a:pt x="8996087" y="0"/>
                </a:lnTo>
                <a:lnTo>
                  <a:pt x="8996087" y="8996086"/>
                </a:lnTo>
                <a:lnTo>
                  <a:pt x="0" y="89960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092195" y="8344433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0" y="0"/>
                </a:moveTo>
                <a:lnTo>
                  <a:pt x="11356715" y="0"/>
                </a:lnTo>
                <a:lnTo>
                  <a:pt x="11356715" y="5141500"/>
                </a:lnTo>
                <a:lnTo>
                  <a:pt x="0" y="514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9023480" y="8344433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11356715" y="0"/>
                </a:moveTo>
                <a:lnTo>
                  <a:pt x="0" y="0"/>
                </a:lnTo>
                <a:lnTo>
                  <a:pt x="0" y="5141500"/>
                </a:lnTo>
                <a:lnTo>
                  <a:pt x="11356715" y="5141500"/>
                </a:lnTo>
                <a:lnTo>
                  <a:pt x="11356715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212715" y="-2570750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0" y="0"/>
                </a:moveTo>
                <a:lnTo>
                  <a:pt x="11356715" y="0"/>
                </a:lnTo>
                <a:lnTo>
                  <a:pt x="11356715" y="5141500"/>
                </a:lnTo>
                <a:lnTo>
                  <a:pt x="0" y="514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8902960" y="-2570750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11356715" y="0"/>
                </a:moveTo>
                <a:lnTo>
                  <a:pt x="0" y="0"/>
                </a:lnTo>
                <a:lnTo>
                  <a:pt x="0" y="5141500"/>
                </a:lnTo>
                <a:lnTo>
                  <a:pt x="11356715" y="5141500"/>
                </a:lnTo>
                <a:lnTo>
                  <a:pt x="11356715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94245" y="3599966"/>
          <a:ext cx="9657057" cy="3267074"/>
        </p:xfrm>
        <a:graphic>
          <a:graphicData uri="http://schemas.openxmlformats.org/drawingml/2006/table">
            <a:tbl>
              <a:tblPr/>
              <a:tblGrid>
                <a:gridCol w="3049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9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7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7002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KULLANIM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KEY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VALUE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03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YİYECEK KONUMLARI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POINT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FoodType (NORMAL/BONUS/SUPER)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03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POWER-UP KONUMLARI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POINT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PowerUp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-5779847" y="733907"/>
            <a:ext cx="19351495" cy="141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5.2 HASH TABLE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70067" y="569262"/>
            <a:ext cx="8585002" cy="10191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Hash Algoritması / Örnek Point( 3, 5 )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Abril Fatface"/>
              <a:ea typeface="Abril Fatface"/>
              <a:cs typeface="Abril Fatface"/>
              <a:sym typeface="Abril Fatface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 Adım 1 — Point'ten sayı üret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hashCode() = 31 * x + y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Point(3, 5) → 31*3 + 5 = 98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Abril Fatface"/>
              <a:ea typeface="Abril Fatface"/>
              <a:cs typeface="Abril Fatface"/>
              <a:sym typeface="Abril Fatface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 Adım 2 — Tablo indeksine çevir: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  index = (98 &amp; 0x7FFFFFFF) % 16 = 2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  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 Adım 3 — Tabloya yaz: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 index 0 → null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 index 1 → null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 index 2 → [Point(3,5) | NORMAL]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 index 3 → null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 ...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Abril Fatface"/>
              <a:ea typeface="Abril Fatface"/>
              <a:cs typeface="Abril Fatface"/>
              <a:sym typeface="Abril Fatface"/>
            </a:endParaRP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3316" b="-8331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4766481" y="645462"/>
            <a:ext cx="8996086" cy="8996086"/>
          </a:xfrm>
          <a:custGeom>
            <a:avLst/>
            <a:gdLst/>
            <a:ahLst/>
            <a:cxnLst/>
            <a:rect l="l" t="t" r="r" b="b"/>
            <a:pathLst>
              <a:path w="8996086" h="8996086">
                <a:moveTo>
                  <a:pt x="0" y="0"/>
                </a:moveTo>
                <a:lnTo>
                  <a:pt x="8996087" y="0"/>
                </a:lnTo>
                <a:lnTo>
                  <a:pt x="8996087" y="8996086"/>
                </a:lnTo>
                <a:lnTo>
                  <a:pt x="0" y="89960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092195" y="8344433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0" y="0"/>
                </a:moveTo>
                <a:lnTo>
                  <a:pt x="11356715" y="0"/>
                </a:lnTo>
                <a:lnTo>
                  <a:pt x="11356715" y="5141500"/>
                </a:lnTo>
                <a:lnTo>
                  <a:pt x="0" y="514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9023480" y="8344433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11356715" y="0"/>
                </a:moveTo>
                <a:lnTo>
                  <a:pt x="0" y="0"/>
                </a:lnTo>
                <a:lnTo>
                  <a:pt x="0" y="5141500"/>
                </a:lnTo>
                <a:lnTo>
                  <a:pt x="11356715" y="5141500"/>
                </a:lnTo>
                <a:lnTo>
                  <a:pt x="11356715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212715" y="-2570750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0" y="0"/>
                </a:moveTo>
                <a:lnTo>
                  <a:pt x="11356715" y="0"/>
                </a:lnTo>
                <a:lnTo>
                  <a:pt x="11356715" y="5141500"/>
                </a:lnTo>
                <a:lnTo>
                  <a:pt x="0" y="514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8902960" y="-2570750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11356715" y="0"/>
                </a:moveTo>
                <a:lnTo>
                  <a:pt x="0" y="0"/>
                </a:lnTo>
                <a:lnTo>
                  <a:pt x="0" y="5141500"/>
                </a:lnTo>
                <a:lnTo>
                  <a:pt x="11356715" y="5141500"/>
                </a:lnTo>
                <a:lnTo>
                  <a:pt x="11356715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3911179" y="3448106"/>
          <a:ext cx="9657058" cy="2085975"/>
        </p:xfrm>
        <a:graphic>
          <a:graphicData uri="http://schemas.openxmlformats.org/drawingml/2006/table">
            <a:tbl>
              <a:tblPr/>
              <a:tblGrid>
                <a:gridCol w="4828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8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290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KULLANIM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AÇIKLAMA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307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ENGEL KONUMLARI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MyHashSet&lt;Point&gt; — bu hücrede engel var mı?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-6210105" y="712137"/>
            <a:ext cx="19351495" cy="141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5.3 HASH SET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18582" y="6335237"/>
            <a:ext cx="9442252" cy="1189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obstacles.contains(new Point(3, 5)) → true/false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342828" y="7449027"/>
            <a:ext cx="10793760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Belirtilen noktada engel var mı? sorusuna cevap verir.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3316" b="-8331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4766481" y="645462"/>
            <a:ext cx="8996086" cy="8996086"/>
          </a:xfrm>
          <a:custGeom>
            <a:avLst/>
            <a:gdLst/>
            <a:ahLst/>
            <a:cxnLst/>
            <a:rect l="l" t="t" r="r" b="b"/>
            <a:pathLst>
              <a:path w="8996086" h="8996086">
                <a:moveTo>
                  <a:pt x="0" y="0"/>
                </a:moveTo>
                <a:lnTo>
                  <a:pt x="8996087" y="0"/>
                </a:lnTo>
                <a:lnTo>
                  <a:pt x="8996087" y="8996086"/>
                </a:lnTo>
                <a:lnTo>
                  <a:pt x="0" y="89960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092195" y="8344433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0" y="0"/>
                </a:moveTo>
                <a:lnTo>
                  <a:pt x="11356715" y="0"/>
                </a:lnTo>
                <a:lnTo>
                  <a:pt x="11356715" y="5141500"/>
                </a:lnTo>
                <a:lnTo>
                  <a:pt x="0" y="514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9023480" y="8344433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11356715" y="0"/>
                </a:moveTo>
                <a:lnTo>
                  <a:pt x="0" y="0"/>
                </a:lnTo>
                <a:lnTo>
                  <a:pt x="0" y="5141500"/>
                </a:lnTo>
                <a:lnTo>
                  <a:pt x="11356715" y="5141500"/>
                </a:lnTo>
                <a:lnTo>
                  <a:pt x="11356715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212715" y="-2570750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0" y="0"/>
                </a:moveTo>
                <a:lnTo>
                  <a:pt x="11356715" y="0"/>
                </a:lnTo>
                <a:lnTo>
                  <a:pt x="11356715" y="5141500"/>
                </a:lnTo>
                <a:lnTo>
                  <a:pt x="0" y="514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8902960" y="-2570750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11356715" y="0"/>
                </a:moveTo>
                <a:lnTo>
                  <a:pt x="0" y="0"/>
                </a:lnTo>
                <a:lnTo>
                  <a:pt x="0" y="5141500"/>
                </a:lnTo>
                <a:lnTo>
                  <a:pt x="11356715" y="5141500"/>
                </a:lnTo>
                <a:lnTo>
                  <a:pt x="11356715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400579" y="2185247"/>
            <a:ext cx="11301259" cy="6159186"/>
          </a:xfrm>
          <a:custGeom>
            <a:avLst/>
            <a:gdLst/>
            <a:ahLst/>
            <a:cxnLst/>
            <a:rect l="l" t="t" r="r" b="b"/>
            <a:pathLst>
              <a:path w="11301259" h="6159186">
                <a:moveTo>
                  <a:pt x="0" y="0"/>
                </a:moveTo>
                <a:lnTo>
                  <a:pt x="11301259" y="0"/>
                </a:lnTo>
                <a:lnTo>
                  <a:pt x="11301259" y="6159186"/>
                </a:lnTo>
                <a:lnTo>
                  <a:pt x="0" y="61591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-2858817" y="710136"/>
            <a:ext cx="19351495" cy="141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5.4 CIRCULAR ARRAY DEQUE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61917" y="8268233"/>
            <a:ext cx="14378583" cy="179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Oyun sırasında hızlı arka arkaya basılan tuşların kaybolmaması için yön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 komutları bir kuyruğa alınır ve her oyun adımında sırayla işlenir.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3316" b="-8331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4766481" y="645462"/>
            <a:ext cx="8996086" cy="8996086"/>
          </a:xfrm>
          <a:custGeom>
            <a:avLst/>
            <a:gdLst/>
            <a:ahLst/>
            <a:cxnLst/>
            <a:rect l="l" t="t" r="r" b="b"/>
            <a:pathLst>
              <a:path w="8996086" h="8996086">
                <a:moveTo>
                  <a:pt x="0" y="0"/>
                </a:moveTo>
                <a:lnTo>
                  <a:pt x="8996087" y="0"/>
                </a:lnTo>
                <a:lnTo>
                  <a:pt x="8996087" y="8996086"/>
                </a:lnTo>
                <a:lnTo>
                  <a:pt x="0" y="89960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092195" y="8344433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0" y="0"/>
                </a:moveTo>
                <a:lnTo>
                  <a:pt x="11356715" y="0"/>
                </a:lnTo>
                <a:lnTo>
                  <a:pt x="11356715" y="5141500"/>
                </a:lnTo>
                <a:lnTo>
                  <a:pt x="0" y="514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9023480" y="8344433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11356715" y="0"/>
                </a:moveTo>
                <a:lnTo>
                  <a:pt x="0" y="0"/>
                </a:lnTo>
                <a:lnTo>
                  <a:pt x="0" y="5141500"/>
                </a:lnTo>
                <a:lnTo>
                  <a:pt x="11356715" y="5141500"/>
                </a:lnTo>
                <a:lnTo>
                  <a:pt x="11356715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212715" y="-2570750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0" y="0"/>
                </a:moveTo>
                <a:lnTo>
                  <a:pt x="11356715" y="0"/>
                </a:lnTo>
                <a:lnTo>
                  <a:pt x="11356715" y="5141500"/>
                </a:lnTo>
                <a:lnTo>
                  <a:pt x="0" y="514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8902960" y="-2570750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11356715" y="0"/>
                </a:moveTo>
                <a:lnTo>
                  <a:pt x="0" y="0"/>
                </a:lnTo>
                <a:lnTo>
                  <a:pt x="0" y="5141500"/>
                </a:lnTo>
                <a:lnTo>
                  <a:pt x="11356715" y="5141500"/>
                </a:lnTo>
                <a:lnTo>
                  <a:pt x="11356715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493371" y="2063907"/>
            <a:ext cx="11301259" cy="6159186"/>
          </a:xfrm>
          <a:custGeom>
            <a:avLst/>
            <a:gdLst/>
            <a:ahLst/>
            <a:cxnLst/>
            <a:rect l="l" t="t" r="r" b="b"/>
            <a:pathLst>
              <a:path w="11301259" h="6159186">
                <a:moveTo>
                  <a:pt x="0" y="0"/>
                </a:moveTo>
                <a:lnTo>
                  <a:pt x="11301258" y="0"/>
                </a:lnTo>
                <a:lnTo>
                  <a:pt x="11301258" y="6159186"/>
                </a:lnTo>
                <a:lnTo>
                  <a:pt x="0" y="61591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-3453431" y="712137"/>
            <a:ext cx="19351495" cy="141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5.5 BINARY MIN-HEAP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97511" y="8268233"/>
            <a:ext cx="15107394" cy="179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Aktif güç-up efektlerinin bitiş zamanları min-heap'te tutulur; süresi dolmak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 üzere olan efekt her zaman kökte bekler ve O(1) ile tespit edilir.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3316" b="-8331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4766481" y="645462"/>
            <a:ext cx="8996086" cy="8996086"/>
          </a:xfrm>
          <a:custGeom>
            <a:avLst/>
            <a:gdLst/>
            <a:ahLst/>
            <a:cxnLst/>
            <a:rect l="l" t="t" r="r" b="b"/>
            <a:pathLst>
              <a:path w="8996086" h="8996086">
                <a:moveTo>
                  <a:pt x="0" y="0"/>
                </a:moveTo>
                <a:lnTo>
                  <a:pt x="8996087" y="0"/>
                </a:lnTo>
                <a:lnTo>
                  <a:pt x="8996087" y="8996086"/>
                </a:lnTo>
                <a:lnTo>
                  <a:pt x="0" y="89960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092195" y="8344433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0" y="0"/>
                </a:moveTo>
                <a:lnTo>
                  <a:pt x="11356715" y="0"/>
                </a:lnTo>
                <a:lnTo>
                  <a:pt x="11356715" y="5141500"/>
                </a:lnTo>
                <a:lnTo>
                  <a:pt x="0" y="514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9023480" y="8344433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11356715" y="0"/>
                </a:moveTo>
                <a:lnTo>
                  <a:pt x="0" y="0"/>
                </a:lnTo>
                <a:lnTo>
                  <a:pt x="0" y="5141500"/>
                </a:lnTo>
                <a:lnTo>
                  <a:pt x="11356715" y="5141500"/>
                </a:lnTo>
                <a:lnTo>
                  <a:pt x="11356715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212715" y="-2570750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0" y="0"/>
                </a:moveTo>
                <a:lnTo>
                  <a:pt x="11356715" y="0"/>
                </a:lnTo>
                <a:lnTo>
                  <a:pt x="11356715" y="5141500"/>
                </a:lnTo>
                <a:lnTo>
                  <a:pt x="0" y="514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8902960" y="-2570750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11356715" y="0"/>
                </a:moveTo>
                <a:lnTo>
                  <a:pt x="0" y="0"/>
                </a:lnTo>
                <a:lnTo>
                  <a:pt x="0" y="5141500"/>
                </a:lnTo>
                <a:lnTo>
                  <a:pt x="11356715" y="5141500"/>
                </a:lnTo>
                <a:lnTo>
                  <a:pt x="11356715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613895" y="1940082"/>
            <a:ext cx="11301259" cy="6159186"/>
          </a:xfrm>
          <a:custGeom>
            <a:avLst/>
            <a:gdLst/>
            <a:ahLst/>
            <a:cxnLst/>
            <a:rect l="l" t="t" r="r" b="b"/>
            <a:pathLst>
              <a:path w="11301259" h="6159186">
                <a:moveTo>
                  <a:pt x="0" y="0"/>
                </a:moveTo>
                <a:lnTo>
                  <a:pt x="11301259" y="0"/>
                </a:lnTo>
                <a:lnTo>
                  <a:pt x="11301259" y="6159186"/>
                </a:lnTo>
                <a:lnTo>
                  <a:pt x="0" y="61591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-1063495" y="529645"/>
            <a:ext cx="19351495" cy="141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5.6 BINARY SEARCH TREE (BST) MAP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80508" y="8268233"/>
            <a:ext cx="14541401" cy="179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 Oyun sonunda skorlar BST tabanlı yapıya eklenir, ağaç anahtarları sıralı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 tuttuğu için en yüksek ve en düşük skora her zaman O(log n) ile ulaşılır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3316" b="-8331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4766481" y="645462"/>
            <a:ext cx="8996086" cy="8996086"/>
          </a:xfrm>
          <a:custGeom>
            <a:avLst/>
            <a:gdLst/>
            <a:ahLst/>
            <a:cxnLst/>
            <a:rect l="l" t="t" r="r" b="b"/>
            <a:pathLst>
              <a:path w="8996086" h="8996086">
                <a:moveTo>
                  <a:pt x="0" y="0"/>
                </a:moveTo>
                <a:lnTo>
                  <a:pt x="8996087" y="0"/>
                </a:lnTo>
                <a:lnTo>
                  <a:pt x="8996087" y="8996086"/>
                </a:lnTo>
                <a:lnTo>
                  <a:pt x="0" y="89960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092195" y="8344433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0" y="0"/>
                </a:moveTo>
                <a:lnTo>
                  <a:pt x="11356715" y="0"/>
                </a:lnTo>
                <a:lnTo>
                  <a:pt x="11356715" y="5141500"/>
                </a:lnTo>
                <a:lnTo>
                  <a:pt x="0" y="514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9023480" y="8344433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11356715" y="0"/>
                </a:moveTo>
                <a:lnTo>
                  <a:pt x="0" y="0"/>
                </a:lnTo>
                <a:lnTo>
                  <a:pt x="0" y="5141500"/>
                </a:lnTo>
                <a:lnTo>
                  <a:pt x="11356715" y="5141500"/>
                </a:lnTo>
                <a:lnTo>
                  <a:pt x="11356715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212715" y="-2570750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0" y="0"/>
                </a:moveTo>
                <a:lnTo>
                  <a:pt x="11356715" y="0"/>
                </a:lnTo>
                <a:lnTo>
                  <a:pt x="11356715" y="5141500"/>
                </a:lnTo>
                <a:lnTo>
                  <a:pt x="0" y="514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8902960" y="-2570750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11356715" y="0"/>
                </a:moveTo>
                <a:lnTo>
                  <a:pt x="0" y="0"/>
                </a:lnTo>
                <a:lnTo>
                  <a:pt x="0" y="5141500"/>
                </a:lnTo>
                <a:lnTo>
                  <a:pt x="11356715" y="5141500"/>
                </a:lnTo>
                <a:lnTo>
                  <a:pt x="11356715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493371" y="2063907"/>
            <a:ext cx="11301259" cy="6159186"/>
          </a:xfrm>
          <a:custGeom>
            <a:avLst/>
            <a:gdLst/>
            <a:ahLst/>
            <a:cxnLst/>
            <a:rect l="l" t="t" r="r" b="b"/>
            <a:pathLst>
              <a:path w="11301259" h="6159186">
                <a:moveTo>
                  <a:pt x="0" y="0"/>
                </a:moveTo>
                <a:lnTo>
                  <a:pt x="11301258" y="0"/>
                </a:lnTo>
                <a:lnTo>
                  <a:pt x="11301258" y="6159186"/>
                </a:lnTo>
                <a:lnTo>
                  <a:pt x="0" y="61591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-4102905" y="506084"/>
            <a:ext cx="23309796" cy="141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5.7 DYNAMIC ARRAY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9211" y="8268233"/>
            <a:ext cx="15444536" cy="2390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Ekranda anlık beliren skor popup'ları ve güç-up göstergeleri dinamik dizide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 tutulur; kapasite dolunca dizi otomatik 2 katına büyür, her karede süresi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 dolanlar tek geçişte temizlenir. 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3316" b="-8331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556755" y="271710"/>
            <a:ext cx="9808531" cy="9808531"/>
          </a:xfrm>
          <a:custGeom>
            <a:avLst/>
            <a:gdLst/>
            <a:ahLst/>
            <a:cxnLst/>
            <a:rect l="l" t="t" r="r" b="b"/>
            <a:pathLst>
              <a:path w="9808531" h="9808531">
                <a:moveTo>
                  <a:pt x="0" y="0"/>
                </a:moveTo>
                <a:lnTo>
                  <a:pt x="9808531" y="0"/>
                </a:lnTo>
                <a:lnTo>
                  <a:pt x="9808531" y="9808531"/>
                </a:lnTo>
                <a:lnTo>
                  <a:pt x="0" y="98085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019586" y="1908553"/>
            <a:ext cx="6453730" cy="6469904"/>
            <a:chOff x="0" y="0"/>
            <a:chExt cx="8604974" cy="86265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605012" cy="8626475"/>
            </a:xfrm>
            <a:custGeom>
              <a:avLst/>
              <a:gdLst/>
              <a:ahLst/>
              <a:cxnLst/>
              <a:rect l="l" t="t" r="r" b="b"/>
              <a:pathLst>
                <a:path w="8605012" h="8626475">
                  <a:moveTo>
                    <a:pt x="0" y="0"/>
                  </a:moveTo>
                  <a:lnTo>
                    <a:pt x="8605012" y="0"/>
                  </a:lnTo>
                  <a:lnTo>
                    <a:pt x="8605012" y="8626475"/>
                  </a:lnTo>
                  <a:lnTo>
                    <a:pt x="0" y="8626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" r="-9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618394" y="3346261"/>
            <a:ext cx="6349051" cy="1829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171424006 - Kuzey Yağız YILDIZ</a:t>
            </a:r>
          </a:p>
          <a:p>
            <a:pPr algn="l">
              <a:lnSpc>
                <a:spcPts val="3620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170424526 - Ali Talha YURTSEVEN</a:t>
            </a:r>
          </a:p>
          <a:p>
            <a:pPr algn="l">
              <a:lnSpc>
                <a:spcPts val="3620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170424026 - Selin Müge TERZİ</a:t>
            </a:r>
          </a:p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170424004 - Oğuzhan DÜNDAR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18394" y="5979328"/>
            <a:ext cx="7444902" cy="1347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HAZIRLAYANLAR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353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3316" b="-8331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4119210" y="239230"/>
            <a:ext cx="9808531" cy="9808531"/>
          </a:xfrm>
          <a:custGeom>
            <a:avLst/>
            <a:gdLst/>
            <a:ahLst/>
            <a:cxnLst/>
            <a:rect l="l" t="t" r="r" b="b"/>
            <a:pathLst>
              <a:path w="9808531" h="9808531">
                <a:moveTo>
                  <a:pt x="0" y="0"/>
                </a:moveTo>
                <a:lnTo>
                  <a:pt x="9808531" y="0"/>
                </a:lnTo>
                <a:lnTo>
                  <a:pt x="9808531" y="9808531"/>
                </a:lnTo>
                <a:lnTo>
                  <a:pt x="0" y="98085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092195" y="2572750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0" y="0"/>
                </a:moveTo>
                <a:lnTo>
                  <a:pt x="11356715" y="0"/>
                </a:lnTo>
                <a:lnTo>
                  <a:pt x="11356715" y="5141500"/>
                </a:lnTo>
                <a:lnTo>
                  <a:pt x="0" y="514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9023480" y="2572750"/>
            <a:ext cx="11356715" cy="5141500"/>
          </a:xfrm>
          <a:custGeom>
            <a:avLst/>
            <a:gdLst/>
            <a:ahLst/>
            <a:cxnLst/>
            <a:rect l="l" t="t" r="r" b="b"/>
            <a:pathLst>
              <a:path w="11356715" h="5141500">
                <a:moveTo>
                  <a:pt x="11356715" y="0"/>
                </a:moveTo>
                <a:lnTo>
                  <a:pt x="0" y="0"/>
                </a:lnTo>
                <a:lnTo>
                  <a:pt x="0" y="5141500"/>
                </a:lnTo>
                <a:lnTo>
                  <a:pt x="11356715" y="5141500"/>
                </a:lnTo>
                <a:lnTo>
                  <a:pt x="11356715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2" b="-82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791892" y="3435877"/>
            <a:ext cx="12463167" cy="2843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05"/>
              </a:lnSpc>
            </a:pPr>
            <a:r>
              <a:rPr lang="en-US" sz="1493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TEŞEKKÜR EDERİZ</a:t>
            </a:r>
          </a:p>
        </p:txBody>
      </p:sp>
      <p:sp>
        <p:nvSpPr>
          <p:cNvPr id="8" name="Freeform 8"/>
          <p:cNvSpPr/>
          <p:nvPr/>
        </p:nvSpPr>
        <p:spPr>
          <a:xfrm>
            <a:off x="4119210" y="471116"/>
            <a:ext cx="9808531" cy="9808531"/>
          </a:xfrm>
          <a:custGeom>
            <a:avLst/>
            <a:gdLst/>
            <a:ahLst/>
            <a:cxnLst/>
            <a:rect l="l" t="t" r="r" b="b"/>
            <a:pathLst>
              <a:path w="9808531" h="9808531">
                <a:moveTo>
                  <a:pt x="0" y="0"/>
                </a:moveTo>
                <a:lnTo>
                  <a:pt x="9808531" y="0"/>
                </a:lnTo>
                <a:lnTo>
                  <a:pt x="9808531" y="9808531"/>
                </a:lnTo>
                <a:lnTo>
                  <a:pt x="0" y="98085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500</Words>
  <Application>Microsoft Macintosh PowerPoint</Application>
  <PresentationFormat>Custom</PresentationFormat>
  <Paragraphs>89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Poppins Bold</vt:lpstr>
      <vt:lpstr>DejaVu Serif Bold</vt:lpstr>
      <vt:lpstr>Abril Fatface</vt:lpstr>
      <vt:lpstr>Poppins</vt:lpstr>
      <vt:lpstr>Anton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OOP-Sunum.pptx</dc:title>
  <cp:lastModifiedBy>Microsoft Office User</cp:lastModifiedBy>
  <cp:revision>2</cp:revision>
  <dcterms:created xsi:type="dcterms:W3CDTF">2006-08-16T00:00:00Z</dcterms:created>
  <dcterms:modified xsi:type="dcterms:W3CDTF">2026-06-04T17:36:09Z</dcterms:modified>
  <dc:identifier>DAHLnkdPakQ</dc:identifier>
</cp:coreProperties>
</file>